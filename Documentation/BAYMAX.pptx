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x="18288000" cy="10287000"/>
  <p:notesSz cx="6858000" cy="9144000"/>
  <p:embeddedFontLst>
    <p:embeddedFont>
      <p:font typeface="Playfair Display Bold" charset="1" panose="00000800000000000000"/>
      <p:regular r:id="rId13"/>
    </p:embeddedFont>
    <p:embeddedFont>
      <p:font typeface="Playfair Display" charset="1" panose="00000500000000000000"/>
      <p:regular r:id="rId1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4.png" Type="http://schemas.openxmlformats.org/officeDocument/2006/relationships/image"/><Relationship Id="rId11" Target="../media/image15.png" Type="http://schemas.openxmlformats.org/officeDocument/2006/relationships/image"/><Relationship Id="rId12" Target="../media/image16.png" Type="http://schemas.openxmlformats.org/officeDocument/2006/relationships/image"/><Relationship Id="rId13" Target="../media/image17.png" Type="http://schemas.openxmlformats.org/officeDocument/2006/relationships/image"/><Relationship Id="rId14" Target="../media/image18.png" Type="http://schemas.openxmlformats.org/officeDocument/2006/relationships/image"/><Relationship Id="rId15" Target="../media/image19.png" Type="http://schemas.openxmlformats.org/officeDocument/2006/relationships/image"/><Relationship Id="rId2" Target="../media/image6.png" Type="http://schemas.openxmlformats.org/officeDocument/2006/relationships/image"/><Relationship Id="rId3" Target="../media/image7.png" Type="http://schemas.openxmlformats.org/officeDocument/2006/relationships/image"/><Relationship Id="rId4" Target="../media/image8.png" Type="http://schemas.openxmlformats.org/officeDocument/2006/relationships/image"/><Relationship Id="rId5" Target="../media/image9.png" Type="http://schemas.openxmlformats.org/officeDocument/2006/relationships/image"/><Relationship Id="rId6" Target="../media/image10.png" Type="http://schemas.openxmlformats.org/officeDocument/2006/relationships/image"/><Relationship Id="rId7" Target="../media/image11.png" Type="http://schemas.openxmlformats.org/officeDocument/2006/relationships/image"/><Relationship Id="rId8" Target="../media/image12.png" Type="http://schemas.openxmlformats.org/officeDocument/2006/relationships/image"/><Relationship Id="rId9" Target="../media/image13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E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1028683" y="4534019"/>
            <a:ext cx="16230639" cy="0"/>
          </a:xfrm>
          <a:prstGeom prst="line">
            <a:avLst/>
          </a:prstGeom>
          <a:ln cap="flat" w="9525">
            <a:solidFill>
              <a:srgbClr val="2B2C3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16215328" y="8604054"/>
            <a:ext cx="915685" cy="680937"/>
          </a:xfrm>
          <a:custGeom>
            <a:avLst/>
            <a:gdLst/>
            <a:ahLst/>
            <a:cxnLst/>
            <a:rect r="r" b="b" t="t" l="l"/>
            <a:pathLst>
              <a:path h="680937" w="915685">
                <a:moveTo>
                  <a:pt x="0" y="0"/>
                </a:moveTo>
                <a:lnTo>
                  <a:pt x="915685" y="0"/>
                </a:lnTo>
                <a:lnTo>
                  <a:pt x="915685" y="680937"/>
                </a:lnTo>
                <a:lnTo>
                  <a:pt x="0" y="68093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06882" y="4747842"/>
            <a:ext cx="16230600" cy="6295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00"/>
              </a:lnSpc>
              <a:spcBef>
                <a:spcPct val="0"/>
              </a:spcBef>
            </a:pPr>
            <a:r>
              <a:rPr lang="en-US" b="true" sz="3714" spc="843">
                <a:solidFill>
                  <a:srgbClr val="2B2C30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SMART MEDICAL ASSISTANT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850974" y="2332416"/>
            <a:ext cx="16408332" cy="20840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250"/>
              </a:lnSpc>
            </a:pPr>
            <a:r>
              <a:rPr lang="en-US" sz="16758" spc="83">
                <a:solidFill>
                  <a:srgbClr val="2B2C3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BAYMAX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3527801" y="8630746"/>
            <a:ext cx="3145370" cy="7132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17"/>
              </a:lnSpc>
            </a:pPr>
            <a:r>
              <a:rPr lang="en-US" sz="2986" spc="14">
                <a:solidFill>
                  <a:srgbClr val="2B2C3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Your Personal</a:t>
            </a:r>
          </a:p>
          <a:p>
            <a:pPr algn="l">
              <a:lnSpc>
                <a:spcPts val="2717"/>
              </a:lnSpc>
            </a:pPr>
            <a:r>
              <a:rPr lang="en-US" sz="2986" spc="14">
                <a:solidFill>
                  <a:srgbClr val="2B2C3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AI Care Taker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E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1028672" y="1780016"/>
            <a:ext cx="16230639" cy="0"/>
          </a:xfrm>
          <a:prstGeom prst="line">
            <a:avLst/>
          </a:prstGeom>
          <a:ln cap="flat" w="9525">
            <a:solidFill>
              <a:srgbClr val="2B2C3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1028695" y="2137058"/>
            <a:ext cx="8236966" cy="7455355"/>
          </a:xfrm>
          <a:custGeom>
            <a:avLst/>
            <a:gdLst/>
            <a:ahLst/>
            <a:cxnLst/>
            <a:rect r="r" b="b" t="t" l="l"/>
            <a:pathLst>
              <a:path h="7455355" w="8236966">
                <a:moveTo>
                  <a:pt x="0" y="0"/>
                </a:moveTo>
                <a:lnTo>
                  <a:pt x="8236966" y="0"/>
                </a:lnTo>
                <a:lnTo>
                  <a:pt x="8236966" y="7455355"/>
                </a:lnTo>
                <a:lnTo>
                  <a:pt x="0" y="745535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41817" t="-5109" r="-34458" b="-1121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06871" y="962025"/>
            <a:ext cx="16230600" cy="6295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00"/>
              </a:lnSpc>
              <a:spcBef>
                <a:spcPct val="0"/>
              </a:spcBef>
            </a:pPr>
            <a:r>
              <a:rPr lang="en-US" b="true" sz="3714" spc="843">
                <a:solidFill>
                  <a:srgbClr val="2B2C30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  AGENDA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9360287" y="1965608"/>
            <a:ext cx="7877184" cy="25620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604519" indent="-302260" lvl="1">
              <a:lnSpc>
                <a:spcPts val="5235"/>
              </a:lnSpc>
              <a:buFont typeface="Arial"/>
              <a:buChar char="•"/>
            </a:pPr>
            <a:r>
              <a:rPr lang="en-US" sz="2799">
                <a:solidFill>
                  <a:srgbClr val="2B2C3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Introduction (Abstract)</a:t>
            </a:r>
          </a:p>
          <a:p>
            <a:pPr algn="just" marL="604519" indent="-302260" lvl="1">
              <a:lnSpc>
                <a:spcPts val="5235"/>
              </a:lnSpc>
              <a:buFont typeface="Arial"/>
              <a:buChar char="•"/>
            </a:pPr>
            <a:r>
              <a:rPr lang="en-US" sz="2799">
                <a:solidFill>
                  <a:srgbClr val="2B2C3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Existing Project</a:t>
            </a:r>
          </a:p>
          <a:p>
            <a:pPr algn="just" marL="604519" indent="-302260" lvl="1">
              <a:lnSpc>
                <a:spcPts val="5235"/>
              </a:lnSpc>
              <a:buFont typeface="Arial"/>
              <a:buChar char="•"/>
            </a:pPr>
            <a:r>
              <a:rPr lang="en-US" sz="2799">
                <a:solidFill>
                  <a:srgbClr val="2B2C3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Proposed Project</a:t>
            </a:r>
          </a:p>
          <a:p>
            <a:pPr algn="just" marL="604519" indent="-302260" lvl="1">
              <a:lnSpc>
                <a:spcPts val="5235"/>
              </a:lnSpc>
              <a:buFont typeface="Arial"/>
              <a:buChar char="•"/>
            </a:pPr>
            <a:r>
              <a:rPr lang="en-US" sz="2799">
                <a:solidFill>
                  <a:srgbClr val="2B2C3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Tools &amp; Technologies</a:t>
            </a:r>
            <a:r>
              <a:rPr lang="en-US" sz="2799">
                <a:solidFill>
                  <a:srgbClr val="2B2C3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 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bg>
      <p:bgPr>
        <a:solidFill>
          <a:srgbClr val="EFEE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16407" y="2191070"/>
            <a:ext cx="16242893" cy="55581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61339" indent="-280669" lvl="1">
              <a:lnSpc>
                <a:spcPts val="3379"/>
              </a:lnSpc>
              <a:buFont typeface="Arial"/>
              <a:buChar char="•"/>
            </a:pPr>
            <a:r>
              <a:rPr lang="en-US" sz="2599" spc="12">
                <a:solidFill>
                  <a:srgbClr val="2B2C3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Limited medical awareness and difficulty in accessing timely healthcare</a:t>
            </a:r>
          </a:p>
          <a:p>
            <a:pPr algn="l">
              <a:lnSpc>
                <a:spcPts val="3379"/>
              </a:lnSpc>
            </a:pPr>
          </a:p>
          <a:p>
            <a:pPr algn="l" marL="561339" indent="-280669" lvl="1">
              <a:lnSpc>
                <a:spcPts val="3379"/>
              </a:lnSpc>
              <a:buFont typeface="Arial"/>
              <a:buChar char="•"/>
            </a:pPr>
            <a:r>
              <a:rPr lang="en-US" sz="2599" spc="12">
                <a:solidFill>
                  <a:srgbClr val="2B2C3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Challenges in doctor selection, long waiting times, and manual appointments</a:t>
            </a:r>
          </a:p>
          <a:p>
            <a:pPr algn="l">
              <a:lnSpc>
                <a:spcPts val="3379"/>
              </a:lnSpc>
            </a:pPr>
          </a:p>
          <a:p>
            <a:pPr algn="l" marL="561339" indent="-280669" lvl="1">
              <a:lnSpc>
                <a:spcPts val="3379"/>
              </a:lnSpc>
              <a:buFont typeface="Arial"/>
              <a:buChar char="•"/>
            </a:pPr>
            <a:r>
              <a:rPr lang="en-US" sz="2599" spc="12">
                <a:solidFill>
                  <a:srgbClr val="2B2C3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BAYMAX is an i</a:t>
            </a:r>
            <a:r>
              <a:rPr lang="en-US" sz="2599" spc="12">
                <a:solidFill>
                  <a:srgbClr val="2B2C3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ntelligent, user-centric smart medical assistant</a:t>
            </a:r>
          </a:p>
          <a:p>
            <a:pPr algn="l">
              <a:lnSpc>
                <a:spcPts val="3379"/>
              </a:lnSpc>
            </a:pPr>
          </a:p>
          <a:p>
            <a:pPr algn="l" marL="561339" indent="-280669" lvl="1">
              <a:lnSpc>
                <a:spcPts val="3379"/>
              </a:lnSpc>
              <a:buFont typeface="Arial"/>
              <a:buChar char="•"/>
            </a:pPr>
            <a:r>
              <a:rPr lang="en-US" sz="2599" spc="12">
                <a:solidFill>
                  <a:srgbClr val="2B2C3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Provides illness-based specialist doctor recommendation with waiting count</a:t>
            </a:r>
          </a:p>
          <a:p>
            <a:pPr algn="l">
              <a:lnSpc>
                <a:spcPts val="3379"/>
              </a:lnSpc>
            </a:pPr>
          </a:p>
          <a:p>
            <a:pPr algn="l" marL="561339" indent="-280669" lvl="1">
              <a:lnSpc>
                <a:spcPts val="3379"/>
              </a:lnSpc>
              <a:buFont typeface="Arial"/>
              <a:buChar char="•"/>
            </a:pPr>
            <a:r>
              <a:rPr lang="en-US" sz="2599" spc="12">
                <a:solidFill>
                  <a:srgbClr val="2B2C3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Enables online appointments, pharmacy assistance, and navigation support</a:t>
            </a:r>
          </a:p>
          <a:p>
            <a:pPr algn="l">
              <a:lnSpc>
                <a:spcPts val="3379"/>
              </a:lnSpc>
            </a:pPr>
          </a:p>
          <a:p>
            <a:pPr algn="l" marL="561339" indent="-280669" lvl="1">
              <a:lnSpc>
                <a:spcPts val="3379"/>
              </a:lnSpc>
              <a:buFont typeface="Arial"/>
              <a:buChar char="•"/>
            </a:pPr>
            <a:r>
              <a:rPr lang="en-US" sz="2599" spc="12">
                <a:solidFill>
                  <a:srgbClr val="2B2C3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Includes AI health guidance, medicine reminders, and emergency SOS services</a:t>
            </a:r>
          </a:p>
          <a:p>
            <a:pPr algn="l">
              <a:lnSpc>
                <a:spcPts val="3379"/>
              </a:lnSpc>
            </a:pPr>
          </a:p>
          <a:p>
            <a:pPr algn="l">
              <a:lnSpc>
                <a:spcPts val="3379"/>
              </a:lnSpc>
            </a:pPr>
          </a:p>
        </p:txBody>
      </p:sp>
      <p:sp>
        <p:nvSpPr>
          <p:cNvPr name="TextBox 3" id="3"/>
          <p:cNvSpPr txBox="true"/>
          <p:nvPr/>
        </p:nvSpPr>
        <p:spPr>
          <a:xfrm rot="0">
            <a:off x="1006871" y="962025"/>
            <a:ext cx="16230600" cy="6295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00"/>
              </a:lnSpc>
              <a:spcBef>
                <a:spcPct val="0"/>
              </a:spcBef>
            </a:pPr>
            <a:r>
              <a:rPr lang="en-US" b="true" sz="3714" spc="843">
                <a:solidFill>
                  <a:srgbClr val="2B2C30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INTRODUCTION (ABSTRACT)</a:t>
            </a:r>
          </a:p>
        </p:txBody>
      </p:sp>
      <p:sp>
        <p:nvSpPr>
          <p:cNvPr name="AutoShape 4" id="4"/>
          <p:cNvSpPr/>
          <p:nvPr/>
        </p:nvSpPr>
        <p:spPr>
          <a:xfrm>
            <a:off x="1028672" y="1780016"/>
            <a:ext cx="16230639" cy="0"/>
          </a:xfrm>
          <a:prstGeom prst="line">
            <a:avLst/>
          </a:prstGeom>
          <a:ln cap="flat" w="9525">
            <a:solidFill>
              <a:srgbClr val="2B2C30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E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06871" y="962025"/>
            <a:ext cx="16230600" cy="6295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00"/>
              </a:lnSpc>
              <a:spcBef>
                <a:spcPct val="0"/>
              </a:spcBef>
            </a:pPr>
            <a:r>
              <a:rPr lang="en-US" b="true" sz="3714" spc="843">
                <a:solidFill>
                  <a:srgbClr val="2B2C30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EXISTING PROJECT</a:t>
            </a:r>
          </a:p>
        </p:txBody>
      </p:sp>
      <p:sp>
        <p:nvSpPr>
          <p:cNvPr name="AutoShape 3" id="3"/>
          <p:cNvSpPr/>
          <p:nvPr/>
        </p:nvSpPr>
        <p:spPr>
          <a:xfrm>
            <a:off x="1028700" y="1799270"/>
            <a:ext cx="16230600" cy="0"/>
          </a:xfrm>
          <a:prstGeom prst="line">
            <a:avLst/>
          </a:prstGeom>
          <a:ln cap="flat" w="9525">
            <a:solidFill>
              <a:srgbClr val="2B2C3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" id="4"/>
          <p:cNvGrpSpPr/>
          <p:nvPr/>
        </p:nvGrpSpPr>
        <p:grpSpPr>
          <a:xfrm rot="0">
            <a:off x="12443819" y="2112745"/>
            <a:ext cx="5036974" cy="3184774"/>
            <a:chOff x="0" y="0"/>
            <a:chExt cx="1532042" cy="96867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532042" cy="968679"/>
            </a:xfrm>
            <a:custGeom>
              <a:avLst/>
              <a:gdLst/>
              <a:ahLst/>
              <a:cxnLst/>
              <a:rect r="r" b="b" t="t" l="l"/>
              <a:pathLst>
                <a:path h="968679" w="1532042">
                  <a:moveTo>
                    <a:pt x="0" y="0"/>
                  </a:moveTo>
                  <a:lnTo>
                    <a:pt x="1532042" y="0"/>
                  </a:lnTo>
                  <a:lnTo>
                    <a:pt x="1532042" y="968679"/>
                  </a:lnTo>
                  <a:lnTo>
                    <a:pt x="0" y="968679"/>
                  </a:lnTo>
                  <a:close/>
                </a:path>
              </a:pathLst>
            </a:custGeom>
            <a:solidFill>
              <a:srgbClr val="F29123"/>
            </a:solidFill>
            <a:ln w="9525" cap="sq">
              <a:solidFill>
                <a:srgbClr val="2B2C30"/>
              </a:solidFill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28575"/>
              <a:ext cx="1532042" cy="997254"/>
            </a:xfrm>
            <a:prstGeom prst="rect">
              <a:avLst/>
            </a:prstGeom>
          </p:spPr>
          <p:txBody>
            <a:bodyPr anchor="ctr" rtlCol="false" tIns="68580" lIns="68580" bIns="68580" rIns="68580"/>
            <a:lstStyle/>
            <a:p>
              <a:pPr algn="ctr">
                <a:lnSpc>
                  <a:spcPts val="1889"/>
                </a:lnSpc>
              </a:pP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0">
            <a:off x="13147118" y="2408569"/>
            <a:ext cx="3630375" cy="2593125"/>
          </a:xfrm>
          <a:custGeom>
            <a:avLst/>
            <a:gdLst/>
            <a:ahLst/>
            <a:cxnLst/>
            <a:rect r="r" b="b" t="t" l="l"/>
            <a:pathLst>
              <a:path h="2593125" w="3630375">
                <a:moveTo>
                  <a:pt x="0" y="0"/>
                </a:moveTo>
                <a:lnTo>
                  <a:pt x="3630376" y="0"/>
                </a:lnTo>
                <a:lnTo>
                  <a:pt x="3630376" y="2593125"/>
                </a:lnTo>
                <a:lnTo>
                  <a:pt x="0" y="259312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028689" y="2246115"/>
            <a:ext cx="11148510" cy="78181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04519" indent="-302260" lvl="1">
              <a:lnSpc>
                <a:spcPts val="4199"/>
              </a:lnSpc>
              <a:buFont typeface="Arial"/>
              <a:buChar char="•"/>
            </a:pPr>
            <a:r>
              <a:rPr lang="en-US" sz="2799">
                <a:solidFill>
                  <a:srgbClr val="2B2C3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Apollo 24|7 is a widely used digital healthcare platform that provides online medical services through web and mobile applications. </a:t>
            </a:r>
          </a:p>
          <a:p>
            <a:pPr algn="l">
              <a:lnSpc>
                <a:spcPts val="4199"/>
              </a:lnSpc>
            </a:pPr>
          </a:p>
          <a:p>
            <a:pPr algn="l" marL="604519" indent="-302260" lvl="1">
              <a:lnSpc>
                <a:spcPts val="4199"/>
              </a:lnSpc>
              <a:buFont typeface="Arial"/>
              <a:buChar char="•"/>
            </a:pPr>
            <a:r>
              <a:rPr lang="en-US" sz="2799">
                <a:solidFill>
                  <a:srgbClr val="2B2C3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The platform connects users with certified doctors and healthcare providers, enabling access to medical services without the need for physical visits. </a:t>
            </a:r>
          </a:p>
          <a:p>
            <a:pPr algn="l">
              <a:lnSpc>
                <a:spcPts val="4199"/>
              </a:lnSpc>
            </a:pPr>
          </a:p>
          <a:p>
            <a:pPr algn="l" marL="604519" indent="-302260" lvl="1">
              <a:lnSpc>
                <a:spcPts val="4199"/>
              </a:lnSpc>
              <a:buFont typeface="Arial"/>
              <a:buChar char="•"/>
            </a:pPr>
            <a:r>
              <a:rPr lang="en-US" sz="2799">
                <a:solidFill>
                  <a:srgbClr val="2B2C3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Users can consult doctors from multiple medical specialties, manage appointments, and access basic health-related services from a single platform. </a:t>
            </a:r>
          </a:p>
          <a:p>
            <a:pPr algn="l">
              <a:lnSpc>
                <a:spcPts val="4199"/>
              </a:lnSpc>
            </a:pPr>
          </a:p>
          <a:p>
            <a:pPr algn="l" marL="604519" indent="-302260" lvl="1">
              <a:lnSpc>
                <a:spcPts val="4199"/>
              </a:lnSpc>
              <a:buFont typeface="Arial"/>
              <a:buChar char="•"/>
            </a:pPr>
            <a:r>
              <a:rPr lang="en-US" sz="2799">
                <a:solidFill>
                  <a:srgbClr val="2B2C3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The system is designed to improve healthcare accessibility and convenience by leveraging digital technologies.</a:t>
            </a:r>
          </a:p>
          <a:p>
            <a:pPr algn="l">
              <a:lnSpc>
                <a:spcPts val="4199"/>
              </a:lnSpc>
            </a:pP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bg>
      <p:bgPr>
        <a:solidFill>
          <a:srgbClr val="EFEE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06871" y="962025"/>
            <a:ext cx="16230600" cy="6295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00"/>
              </a:lnSpc>
              <a:spcBef>
                <a:spcPct val="0"/>
              </a:spcBef>
            </a:pPr>
            <a:r>
              <a:rPr lang="en-US" b="true" sz="3714" spc="843">
                <a:solidFill>
                  <a:srgbClr val="2B2C30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PROPOSED PROJECT</a:t>
            </a:r>
          </a:p>
        </p:txBody>
      </p:sp>
      <p:sp>
        <p:nvSpPr>
          <p:cNvPr name="AutoShape 3" id="3"/>
          <p:cNvSpPr/>
          <p:nvPr/>
        </p:nvSpPr>
        <p:spPr>
          <a:xfrm>
            <a:off x="1028700" y="1799270"/>
            <a:ext cx="16230600" cy="0"/>
          </a:xfrm>
          <a:prstGeom prst="line">
            <a:avLst/>
          </a:prstGeom>
          <a:ln cap="flat" w="9525">
            <a:solidFill>
              <a:srgbClr val="2B2C3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4" id="4"/>
          <p:cNvSpPr txBox="true"/>
          <p:nvPr/>
        </p:nvSpPr>
        <p:spPr>
          <a:xfrm rot="0">
            <a:off x="1028689" y="2246115"/>
            <a:ext cx="16230611" cy="78181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04519" indent="-302260" lvl="1">
              <a:lnSpc>
                <a:spcPts val="4199"/>
              </a:lnSpc>
              <a:buFont typeface="Arial"/>
              <a:buChar char="•"/>
            </a:pPr>
            <a:r>
              <a:rPr lang="en-US" sz="2799">
                <a:solidFill>
                  <a:srgbClr val="2B2C3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The proposed system BAYMAX differs from existing healthcare platforms by focusing on intelligent, real-time, and user-centric healthcare support rather than only online consultation and booking. </a:t>
            </a:r>
          </a:p>
          <a:p>
            <a:pPr algn="l">
              <a:lnSpc>
                <a:spcPts val="4199"/>
              </a:lnSpc>
            </a:pPr>
          </a:p>
          <a:p>
            <a:pPr algn="l" marL="604519" indent="-302260" lvl="1">
              <a:lnSpc>
                <a:spcPts val="4199"/>
              </a:lnSpc>
              <a:buFont typeface="Arial"/>
              <a:buChar char="•"/>
            </a:pPr>
            <a:r>
              <a:rPr lang="en-US" sz="2799">
                <a:solidFill>
                  <a:srgbClr val="2B2C3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Unlike existing systems, BAYMAX provides AI-based illness prediction and specialist recommendation, helping users make informed healthcare decisions based on symptoms. </a:t>
            </a:r>
          </a:p>
          <a:p>
            <a:pPr algn="l">
              <a:lnSpc>
                <a:spcPts val="4199"/>
              </a:lnSpc>
            </a:pPr>
          </a:p>
          <a:p>
            <a:pPr algn="l" marL="604519" indent="-302260" lvl="1">
              <a:lnSpc>
                <a:spcPts val="4199"/>
              </a:lnSpc>
              <a:buFont typeface="Arial"/>
              <a:buChar char="•"/>
            </a:pPr>
            <a:r>
              <a:rPr lang="en-US" sz="2799">
                <a:solidFill>
                  <a:srgbClr val="2B2C3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It introduces a real-time doctor waiting count, allowing users to reduce waiting time by selecting doctors with shorter queues. </a:t>
            </a:r>
          </a:p>
          <a:p>
            <a:pPr algn="l">
              <a:lnSpc>
                <a:spcPts val="4199"/>
              </a:lnSpc>
            </a:pPr>
          </a:p>
          <a:p>
            <a:pPr algn="l" marL="604519" indent="-302260" lvl="1">
              <a:lnSpc>
                <a:spcPts val="4199"/>
              </a:lnSpc>
              <a:buFont typeface="Arial"/>
              <a:buChar char="•"/>
            </a:pPr>
            <a:r>
              <a:rPr lang="en-US" sz="2799">
                <a:solidFill>
                  <a:srgbClr val="2B2C3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The system integrates nearby pharmacy listing with medicine availability and price comparison, along with map-based navigation for easy access to healthcare facilities.</a:t>
            </a:r>
          </a:p>
          <a:p>
            <a:pPr algn="l">
              <a:lnSpc>
                <a:spcPts val="4199"/>
              </a:lnSpc>
            </a:pPr>
          </a:p>
          <a:p>
            <a:pPr algn="l" marL="604519" indent="-302260" lvl="1">
              <a:lnSpc>
                <a:spcPts val="4199"/>
              </a:lnSpc>
              <a:buFont typeface="Arial"/>
              <a:buChar char="•"/>
            </a:pPr>
            <a:r>
              <a:rPr lang="en-US" sz="2799">
                <a:solidFill>
                  <a:srgbClr val="2B2C3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 Additional features such as prescription-based medicine reminders, AI-driven fitness and diet guidance, and a personalized health dashboard enhance preventive care and user engagement.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E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1028672" y="1780016"/>
            <a:ext cx="16230639" cy="0"/>
          </a:xfrm>
          <a:prstGeom prst="line">
            <a:avLst/>
          </a:prstGeom>
          <a:ln cap="flat" w="9525">
            <a:solidFill>
              <a:srgbClr val="2B2C3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" id="3"/>
          <p:cNvGrpSpPr/>
          <p:nvPr/>
        </p:nvGrpSpPr>
        <p:grpSpPr>
          <a:xfrm rot="0">
            <a:off x="11463968" y="2868991"/>
            <a:ext cx="6327865" cy="6252231"/>
            <a:chOff x="0" y="0"/>
            <a:chExt cx="812800" cy="803085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803085"/>
            </a:xfrm>
            <a:custGeom>
              <a:avLst/>
              <a:gdLst/>
              <a:ahLst/>
              <a:cxnLst/>
              <a:rect r="r" b="b" t="t" l="l"/>
              <a:pathLst>
                <a:path h="803085" w="812800">
                  <a:moveTo>
                    <a:pt x="406400" y="0"/>
                  </a:moveTo>
                  <a:cubicBezTo>
                    <a:pt x="181951" y="0"/>
                    <a:pt x="0" y="179777"/>
                    <a:pt x="0" y="401542"/>
                  </a:cubicBezTo>
                  <a:cubicBezTo>
                    <a:pt x="0" y="623308"/>
                    <a:pt x="181951" y="803085"/>
                    <a:pt x="406400" y="803085"/>
                  </a:cubicBezTo>
                  <a:cubicBezTo>
                    <a:pt x="630849" y="803085"/>
                    <a:pt x="812800" y="623308"/>
                    <a:pt x="812800" y="401542"/>
                  </a:cubicBezTo>
                  <a:cubicBezTo>
                    <a:pt x="812800" y="179777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2B2C30"/>
              </a:solidFill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76200" y="103864"/>
              <a:ext cx="660400" cy="62393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20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2154760" y="4174941"/>
            <a:ext cx="4946280" cy="4946280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2B2C30"/>
              </a:solidFill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76200" y="104775"/>
              <a:ext cx="660400" cy="6318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20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2755940" y="5377301"/>
            <a:ext cx="3743921" cy="3743921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2B2C30"/>
              </a:solidFill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76200" y="104775"/>
              <a:ext cx="660400" cy="6318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20"/>
                </a:lnSpc>
              </a:pP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0">
            <a:off x="14003083" y="6752707"/>
            <a:ext cx="526102" cy="526102"/>
          </a:xfrm>
          <a:custGeom>
            <a:avLst/>
            <a:gdLst/>
            <a:ahLst/>
            <a:cxnLst/>
            <a:rect r="r" b="b" t="t" l="l"/>
            <a:pathLst>
              <a:path h="526102" w="526102">
                <a:moveTo>
                  <a:pt x="0" y="0"/>
                </a:moveTo>
                <a:lnTo>
                  <a:pt x="526102" y="0"/>
                </a:lnTo>
                <a:lnTo>
                  <a:pt x="526102" y="526102"/>
                </a:lnTo>
                <a:lnTo>
                  <a:pt x="0" y="52610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3476982" y="6752707"/>
            <a:ext cx="526102" cy="526102"/>
          </a:xfrm>
          <a:custGeom>
            <a:avLst/>
            <a:gdLst/>
            <a:ahLst/>
            <a:cxnLst/>
            <a:rect r="r" b="b" t="t" l="l"/>
            <a:pathLst>
              <a:path h="526102" w="526102">
                <a:moveTo>
                  <a:pt x="0" y="0"/>
                </a:moveTo>
                <a:lnTo>
                  <a:pt x="526101" y="0"/>
                </a:lnTo>
                <a:lnTo>
                  <a:pt x="526101" y="526102"/>
                </a:lnTo>
                <a:lnTo>
                  <a:pt x="0" y="52610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4627900" y="6805428"/>
            <a:ext cx="473381" cy="473381"/>
          </a:xfrm>
          <a:custGeom>
            <a:avLst/>
            <a:gdLst/>
            <a:ahLst/>
            <a:cxnLst/>
            <a:rect r="r" b="b" t="t" l="l"/>
            <a:pathLst>
              <a:path h="473381" w="473381">
                <a:moveTo>
                  <a:pt x="0" y="0"/>
                </a:moveTo>
                <a:lnTo>
                  <a:pt x="473381" y="0"/>
                </a:lnTo>
                <a:lnTo>
                  <a:pt x="473381" y="473381"/>
                </a:lnTo>
                <a:lnTo>
                  <a:pt x="0" y="47338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15222703" y="6782548"/>
            <a:ext cx="519140" cy="519140"/>
          </a:xfrm>
          <a:custGeom>
            <a:avLst/>
            <a:gdLst/>
            <a:ahLst/>
            <a:cxnLst/>
            <a:rect r="r" b="b" t="t" l="l"/>
            <a:pathLst>
              <a:path h="519140" w="519140">
                <a:moveTo>
                  <a:pt x="0" y="0"/>
                </a:moveTo>
                <a:lnTo>
                  <a:pt x="519140" y="0"/>
                </a:lnTo>
                <a:lnTo>
                  <a:pt x="519140" y="519140"/>
                </a:lnTo>
                <a:lnTo>
                  <a:pt x="0" y="51914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12733753" y="3655802"/>
            <a:ext cx="519140" cy="519140"/>
          </a:xfrm>
          <a:custGeom>
            <a:avLst/>
            <a:gdLst/>
            <a:ahLst/>
            <a:cxnLst/>
            <a:rect r="r" b="b" t="t" l="l"/>
            <a:pathLst>
              <a:path h="519140" w="519140">
                <a:moveTo>
                  <a:pt x="0" y="0"/>
                </a:moveTo>
                <a:lnTo>
                  <a:pt x="519140" y="0"/>
                </a:lnTo>
                <a:lnTo>
                  <a:pt x="519140" y="519139"/>
                </a:lnTo>
                <a:lnTo>
                  <a:pt x="0" y="51913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16002908" y="3560201"/>
            <a:ext cx="527874" cy="527874"/>
          </a:xfrm>
          <a:custGeom>
            <a:avLst/>
            <a:gdLst/>
            <a:ahLst/>
            <a:cxnLst/>
            <a:rect r="r" b="b" t="t" l="l"/>
            <a:pathLst>
              <a:path h="527874" w="527874">
                <a:moveTo>
                  <a:pt x="0" y="0"/>
                </a:moveTo>
                <a:lnTo>
                  <a:pt x="527874" y="0"/>
                </a:lnTo>
                <a:lnTo>
                  <a:pt x="527874" y="527874"/>
                </a:lnTo>
                <a:lnTo>
                  <a:pt x="0" y="52787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16839234" y="4820940"/>
            <a:ext cx="523614" cy="523614"/>
          </a:xfrm>
          <a:custGeom>
            <a:avLst/>
            <a:gdLst/>
            <a:ahLst/>
            <a:cxnLst/>
            <a:rect r="r" b="b" t="t" l="l"/>
            <a:pathLst>
              <a:path h="523614" w="523614">
                <a:moveTo>
                  <a:pt x="0" y="0"/>
                </a:moveTo>
                <a:lnTo>
                  <a:pt x="523613" y="0"/>
                </a:lnTo>
                <a:lnTo>
                  <a:pt x="523613" y="523614"/>
                </a:lnTo>
                <a:lnTo>
                  <a:pt x="0" y="52361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11695060" y="5536046"/>
            <a:ext cx="459700" cy="459700"/>
          </a:xfrm>
          <a:custGeom>
            <a:avLst/>
            <a:gdLst/>
            <a:ahLst/>
            <a:cxnLst/>
            <a:rect r="r" b="b" t="t" l="l"/>
            <a:pathLst>
              <a:path h="459700" w="459700">
                <a:moveTo>
                  <a:pt x="0" y="0"/>
                </a:moveTo>
                <a:lnTo>
                  <a:pt x="459700" y="0"/>
                </a:lnTo>
                <a:lnTo>
                  <a:pt x="459700" y="459700"/>
                </a:lnTo>
                <a:lnTo>
                  <a:pt x="0" y="45970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17101040" y="5449179"/>
            <a:ext cx="526636" cy="526636"/>
          </a:xfrm>
          <a:custGeom>
            <a:avLst/>
            <a:gdLst/>
            <a:ahLst/>
            <a:cxnLst/>
            <a:rect r="r" b="b" t="t" l="l"/>
            <a:pathLst>
              <a:path h="526636" w="526636">
                <a:moveTo>
                  <a:pt x="0" y="0"/>
                </a:moveTo>
                <a:lnTo>
                  <a:pt x="526636" y="0"/>
                </a:lnTo>
                <a:lnTo>
                  <a:pt x="526636" y="526636"/>
                </a:lnTo>
                <a:lnTo>
                  <a:pt x="0" y="526636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16424987" y="4197121"/>
            <a:ext cx="514773" cy="514773"/>
          </a:xfrm>
          <a:custGeom>
            <a:avLst/>
            <a:gdLst/>
            <a:ahLst/>
            <a:cxnLst/>
            <a:rect r="r" b="b" t="t" l="l"/>
            <a:pathLst>
              <a:path h="514773" w="514773">
                <a:moveTo>
                  <a:pt x="0" y="0"/>
                </a:moveTo>
                <a:lnTo>
                  <a:pt x="514772" y="0"/>
                </a:lnTo>
                <a:lnTo>
                  <a:pt x="514772" y="514773"/>
                </a:lnTo>
                <a:lnTo>
                  <a:pt x="0" y="514773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11810835" y="4918976"/>
            <a:ext cx="501275" cy="501275"/>
          </a:xfrm>
          <a:custGeom>
            <a:avLst/>
            <a:gdLst/>
            <a:ahLst/>
            <a:cxnLst/>
            <a:rect r="r" b="b" t="t" l="l"/>
            <a:pathLst>
              <a:path h="501275" w="501275">
                <a:moveTo>
                  <a:pt x="0" y="0"/>
                </a:moveTo>
                <a:lnTo>
                  <a:pt x="501275" y="0"/>
                </a:lnTo>
                <a:lnTo>
                  <a:pt x="501275" y="501274"/>
                </a:lnTo>
                <a:lnTo>
                  <a:pt x="0" y="501274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12254665" y="4279567"/>
            <a:ext cx="501275" cy="501275"/>
          </a:xfrm>
          <a:custGeom>
            <a:avLst/>
            <a:gdLst/>
            <a:ahLst/>
            <a:cxnLst/>
            <a:rect r="r" b="b" t="t" l="l"/>
            <a:pathLst>
              <a:path h="501275" w="501275">
                <a:moveTo>
                  <a:pt x="0" y="0"/>
                </a:moveTo>
                <a:lnTo>
                  <a:pt x="501275" y="0"/>
                </a:lnTo>
                <a:lnTo>
                  <a:pt x="501275" y="501275"/>
                </a:lnTo>
                <a:lnTo>
                  <a:pt x="0" y="501275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0">
            <a:off x="12751618" y="5208474"/>
            <a:ext cx="501275" cy="501275"/>
          </a:xfrm>
          <a:custGeom>
            <a:avLst/>
            <a:gdLst/>
            <a:ahLst/>
            <a:cxnLst/>
            <a:rect r="r" b="b" t="t" l="l"/>
            <a:pathLst>
              <a:path h="501275" w="501275">
                <a:moveTo>
                  <a:pt x="0" y="0"/>
                </a:moveTo>
                <a:lnTo>
                  <a:pt x="501275" y="0"/>
                </a:lnTo>
                <a:lnTo>
                  <a:pt x="501275" y="501274"/>
                </a:lnTo>
                <a:lnTo>
                  <a:pt x="0" y="501274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0" t="0" r="0" b="0"/>
            </a:stretch>
          </a:blipFill>
        </p:spPr>
      </p:sp>
      <p:sp>
        <p:nvSpPr>
          <p:cNvPr name="Freeform 25" id="25"/>
          <p:cNvSpPr/>
          <p:nvPr/>
        </p:nvSpPr>
        <p:spPr>
          <a:xfrm flipH="false" flipV="false" rot="0">
            <a:off x="15903237" y="5169613"/>
            <a:ext cx="518068" cy="518068"/>
          </a:xfrm>
          <a:custGeom>
            <a:avLst/>
            <a:gdLst/>
            <a:ahLst/>
            <a:cxnLst/>
            <a:rect r="r" b="b" t="t" l="l"/>
            <a:pathLst>
              <a:path h="518068" w="518068">
                <a:moveTo>
                  <a:pt x="0" y="0"/>
                </a:moveTo>
                <a:lnTo>
                  <a:pt x="518068" y="0"/>
                </a:lnTo>
                <a:lnTo>
                  <a:pt x="518068" y="518068"/>
                </a:lnTo>
                <a:lnTo>
                  <a:pt x="0" y="518068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 l="0" t="0" r="0" b="0"/>
            </a:stretch>
          </a:blipFill>
        </p:spPr>
      </p:sp>
      <p:sp>
        <p:nvSpPr>
          <p:cNvPr name="TextBox 26" id="26"/>
          <p:cNvSpPr txBox="true"/>
          <p:nvPr/>
        </p:nvSpPr>
        <p:spPr>
          <a:xfrm rot="0">
            <a:off x="1006871" y="962025"/>
            <a:ext cx="16230600" cy="6295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00"/>
              </a:lnSpc>
              <a:spcBef>
                <a:spcPct val="0"/>
              </a:spcBef>
            </a:pPr>
            <a:r>
              <a:rPr lang="en-US" b="true" sz="3714" spc="843">
                <a:solidFill>
                  <a:srgbClr val="2B2C30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TOOLS &amp; TECHNOLOGIES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3513957" y="4511450"/>
            <a:ext cx="2227886" cy="6971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942"/>
              </a:lnSpc>
            </a:pPr>
            <a:r>
              <a:rPr lang="en-US" b="true" sz="3714">
                <a:solidFill>
                  <a:srgbClr val="2B2C30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Database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3252893" y="5886537"/>
            <a:ext cx="2750015" cy="7581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422"/>
              </a:lnSpc>
            </a:pPr>
            <a:r>
              <a:rPr lang="en-US" b="true" sz="4013">
                <a:solidFill>
                  <a:srgbClr val="2B2C30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Front-End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3352563" y="3016871"/>
            <a:ext cx="2550674" cy="803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803"/>
              </a:lnSpc>
            </a:pPr>
            <a:r>
              <a:rPr lang="en-US" b="true" sz="4252">
                <a:solidFill>
                  <a:srgbClr val="2B2C30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Back-End</a:t>
            </a:r>
          </a:p>
        </p:txBody>
      </p:sp>
      <p:grpSp>
        <p:nvGrpSpPr>
          <p:cNvPr name="Group 30" id="30"/>
          <p:cNvGrpSpPr/>
          <p:nvPr/>
        </p:nvGrpSpPr>
        <p:grpSpPr>
          <a:xfrm rot="0">
            <a:off x="1006871" y="2008424"/>
            <a:ext cx="10105007" cy="7985803"/>
            <a:chOff x="0" y="0"/>
            <a:chExt cx="13473343" cy="10647737"/>
          </a:xfrm>
        </p:grpSpPr>
        <p:sp>
          <p:nvSpPr>
            <p:cNvPr name="TextBox 31" id="31"/>
            <p:cNvSpPr txBox="true"/>
            <p:nvPr/>
          </p:nvSpPr>
          <p:spPr>
            <a:xfrm rot="0">
              <a:off x="29105" y="-57150"/>
              <a:ext cx="13444237" cy="6667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201"/>
                </a:lnSpc>
              </a:pPr>
              <a:r>
                <a:rPr lang="en-US" sz="3000" b="true">
                  <a:solidFill>
                    <a:srgbClr val="2B2C30"/>
                  </a:solidFill>
                  <a:latin typeface="Playfair Display Bold"/>
                  <a:ea typeface="Playfair Display Bold"/>
                  <a:cs typeface="Playfair Display Bold"/>
                  <a:sym typeface="Playfair Display Bold"/>
                </a:rPr>
                <a:t>Front-End</a:t>
              </a:r>
            </a:p>
          </p:txBody>
        </p:sp>
        <p:sp>
          <p:nvSpPr>
            <p:cNvPr name="TextBox 32" id="32"/>
            <p:cNvSpPr txBox="true"/>
            <p:nvPr/>
          </p:nvSpPr>
          <p:spPr>
            <a:xfrm rot="0">
              <a:off x="29105" y="621832"/>
              <a:ext cx="13444237" cy="44221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850"/>
                </a:lnSpc>
              </a:pPr>
              <a:r>
                <a:rPr lang="en-US" sz="2036">
                  <a:solidFill>
                    <a:srgbClr val="2B2C30"/>
                  </a:solidFill>
                  <a:latin typeface="Playfair Display"/>
                  <a:ea typeface="Playfair Display"/>
                  <a:cs typeface="Playfair Display"/>
                  <a:sym typeface="Playfair Display"/>
                </a:rPr>
                <a:t>HTML, CSS, JavaScript, React.js</a:t>
              </a:r>
            </a:p>
          </p:txBody>
        </p:sp>
        <p:sp>
          <p:nvSpPr>
            <p:cNvPr name="TextBox 33" id="33"/>
            <p:cNvSpPr txBox="true"/>
            <p:nvPr/>
          </p:nvSpPr>
          <p:spPr>
            <a:xfrm rot="0">
              <a:off x="29105" y="1217860"/>
              <a:ext cx="13444237" cy="6667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201"/>
                </a:lnSpc>
              </a:pPr>
              <a:r>
                <a:rPr lang="en-US" sz="3000" b="true">
                  <a:solidFill>
                    <a:srgbClr val="2B2C30"/>
                  </a:solidFill>
                  <a:latin typeface="Playfair Display Bold"/>
                  <a:ea typeface="Playfair Display Bold"/>
                  <a:cs typeface="Playfair Display Bold"/>
                  <a:sym typeface="Playfair Display Bold"/>
                </a:rPr>
                <a:t>Database</a:t>
              </a:r>
            </a:p>
          </p:txBody>
        </p:sp>
        <p:sp>
          <p:nvSpPr>
            <p:cNvPr name="TextBox 34" id="34"/>
            <p:cNvSpPr txBox="true"/>
            <p:nvPr/>
          </p:nvSpPr>
          <p:spPr>
            <a:xfrm rot="0">
              <a:off x="29105" y="1896842"/>
              <a:ext cx="13444237" cy="189001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439620" indent="-219810" lvl="1">
                <a:lnSpc>
                  <a:spcPts val="2850"/>
                </a:lnSpc>
                <a:buFont typeface="Arial"/>
                <a:buChar char="•"/>
              </a:pPr>
              <a:r>
                <a:rPr lang="en-US" sz="2036">
                  <a:solidFill>
                    <a:srgbClr val="2B2C30"/>
                  </a:solidFill>
                  <a:latin typeface="Playfair Display"/>
                  <a:ea typeface="Playfair Display"/>
                  <a:cs typeface="Playfair Display"/>
                  <a:sym typeface="Playfair Display"/>
                </a:rPr>
                <a:t>MongoDB – Stores flexible medical records, user data, appointments, and dashboard information.</a:t>
              </a:r>
            </a:p>
            <a:p>
              <a:pPr algn="l" marL="439620" indent="-219810" lvl="1">
                <a:lnSpc>
                  <a:spcPts val="2850"/>
                </a:lnSpc>
                <a:buFont typeface="Arial"/>
                <a:buChar char="•"/>
              </a:pPr>
              <a:r>
                <a:rPr lang="en-US" sz="2036">
                  <a:solidFill>
                    <a:srgbClr val="2B2C30"/>
                  </a:solidFill>
                  <a:latin typeface="Playfair Display"/>
                  <a:ea typeface="Playfair Display"/>
                  <a:cs typeface="Playfair Display"/>
                  <a:sym typeface="Playfair Display"/>
                </a:rPr>
                <a:t>Firebase – Handles real-time features such as doctor waiting count, SOS alerts, and notifications.</a:t>
              </a:r>
            </a:p>
          </p:txBody>
        </p:sp>
        <p:sp>
          <p:nvSpPr>
            <p:cNvPr name="TextBox 35" id="35"/>
            <p:cNvSpPr txBox="true"/>
            <p:nvPr/>
          </p:nvSpPr>
          <p:spPr>
            <a:xfrm rot="0">
              <a:off x="29105" y="3947476"/>
              <a:ext cx="13444237" cy="6667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201"/>
                </a:lnSpc>
              </a:pPr>
              <a:r>
                <a:rPr lang="en-US" sz="3000" b="true">
                  <a:solidFill>
                    <a:srgbClr val="2B2C30"/>
                  </a:solidFill>
                  <a:latin typeface="Playfair Display Bold"/>
                  <a:ea typeface="Playfair Display Bold"/>
                  <a:cs typeface="Playfair Display Bold"/>
                  <a:sym typeface="Playfair Display Bold"/>
                </a:rPr>
                <a:t>Back-End</a:t>
              </a:r>
            </a:p>
          </p:txBody>
        </p:sp>
        <p:sp>
          <p:nvSpPr>
            <p:cNvPr name="TextBox 36" id="36"/>
            <p:cNvSpPr txBox="true"/>
            <p:nvPr/>
          </p:nvSpPr>
          <p:spPr>
            <a:xfrm rot="0">
              <a:off x="29105" y="4626458"/>
              <a:ext cx="13444237" cy="285521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439620" indent="-219810" lvl="1">
                <a:lnSpc>
                  <a:spcPts val="2850"/>
                </a:lnSpc>
                <a:buFont typeface="Arial"/>
                <a:buChar char="•"/>
              </a:pPr>
              <a:r>
                <a:rPr lang="en-US" sz="2036">
                  <a:solidFill>
                    <a:srgbClr val="2B2C30"/>
                  </a:solidFill>
                  <a:latin typeface="Playfair Display"/>
                  <a:ea typeface="Playfair Display"/>
                  <a:cs typeface="Playfair Display"/>
                  <a:sym typeface="Playfair Display"/>
                </a:rPr>
                <a:t>Python (Flask) – Exposes AI and machine learning models as APIs for illness prediction and health guidance.</a:t>
              </a:r>
            </a:p>
            <a:p>
              <a:pPr algn="l" marL="439620" indent="-219810" lvl="1">
                <a:lnSpc>
                  <a:spcPts val="2850"/>
                </a:lnSpc>
                <a:buFont typeface="Arial"/>
                <a:buChar char="•"/>
              </a:pPr>
              <a:r>
                <a:rPr lang="en-US" sz="2036">
                  <a:solidFill>
                    <a:srgbClr val="2B2C30"/>
                  </a:solidFill>
                  <a:latin typeface="Playfair Display"/>
                  <a:ea typeface="Playfair Display"/>
                  <a:cs typeface="Playfair Display"/>
                  <a:sym typeface="Playfair Display"/>
                </a:rPr>
                <a:t>Node.js – Processes backend operations, handles requests, an</a:t>
              </a:r>
              <a:r>
                <a:rPr lang="en-US" sz="2036">
                  <a:solidFill>
                    <a:srgbClr val="2B2C30"/>
                  </a:solidFill>
                  <a:latin typeface="Playfair Display"/>
                  <a:ea typeface="Playfair Display"/>
                  <a:cs typeface="Playfair Display"/>
                  <a:sym typeface="Playfair Display"/>
                </a:rPr>
                <a:t>d connects frontend with databases and APIs.</a:t>
              </a:r>
            </a:p>
            <a:p>
              <a:pPr algn="l" marL="439620" indent="-219810" lvl="1">
                <a:lnSpc>
                  <a:spcPts val="2850"/>
                </a:lnSpc>
                <a:buFont typeface="Arial"/>
                <a:buChar char="•"/>
              </a:pPr>
              <a:r>
                <a:rPr lang="en-US" sz="2036">
                  <a:solidFill>
                    <a:srgbClr val="2B2C30"/>
                  </a:solidFill>
                  <a:latin typeface="Playfair Display"/>
                  <a:ea typeface="Playfair Display"/>
                  <a:cs typeface="Playfair Display"/>
                  <a:sym typeface="Playfair Display"/>
                </a:rPr>
                <a:t>Express.js – Builds and manages RESTful APIs, routing, and backend application logic.</a:t>
              </a:r>
            </a:p>
          </p:txBody>
        </p:sp>
        <p:sp>
          <p:nvSpPr>
            <p:cNvPr name="TextBox 37" id="37"/>
            <p:cNvSpPr txBox="true"/>
            <p:nvPr/>
          </p:nvSpPr>
          <p:spPr>
            <a:xfrm rot="0">
              <a:off x="0" y="7640423"/>
              <a:ext cx="13444237" cy="6667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201"/>
                </a:lnSpc>
              </a:pPr>
              <a:r>
                <a:rPr lang="en-US" sz="3000" b="true">
                  <a:solidFill>
                    <a:srgbClr val="2B2C30"/>
                  </a:solidFill>
                  <a:latin typeface="Playfair Display Bold"/>
                  <a:ea typeface="Playfair Display Bold"/>
                  <a:cs typeface="Playfair Display Bold"/>
                  <a:sym typeface="Playfair Display Bold"/>
                </a:rPr>
                <a:t>Other Tools</a:t>
              </a:r>
            </a:p>
          </p:txBody>
        </p:sp>
        <p:sp>
          <p:nvSpPr>
            <p:cNvPr name="TextBox 38" id="38"/>
            <p:cNvSpPr txBox="true"/>
            <p:nvPr/>
          </p:nvSpPr>
          <p:spPr>
            <a:xfrm rot="0">
              <a:off x="0" y="8275122"/>
              <a:ext cx="6751224" cy="237261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439620" indent="-219810" lvl="1">
                <a:lnSpc>
                  <a:spcPts val="2850"/>
                </a:lnSpc>
                <a:buFont typeface="Arial"/>
                <a:buChar char="•"/>
              </a:pPr>
              <a:r>
                <a:rPr lang="en-US" sz="2036">
                  <a:solidFill>
                    <a:srgbClr val="2B2C30"/>
                  </a:solidFill>
                  <a:latin typeface="Playfair Display"/>
                  <a:ea typeface="Playfair Display"/>
                  <a:cs typeface="Playfair Display"/>
                  <a:sym typeface="Playfair Display"/>
                </a:rPr>
                <a:t>Google Maps API – For Navigation, </a:t>
              </a:r>
            </a:p>
            <a:p>
              <a:pPr algn="l" marL="439620" indent="-219810" lvl="1">
                <a:lnSpc>
                  <a:spcPts val="2850"/>
                </a:lnSpc>
                <a:buFont typeface="Arial"/>
                <a:buChar char="•"/>
              </a:pPr>
              <a:r>
                <a:rPr lang="en-US" sz="2036">
                  <a:solidFill>
                    <a:srgbClr val="2B2C30"/>
                  </a:solidFill>
                  <a:latin typeface="Playfair Display"/>
                  <a:ea typeface="Playfair Display"/>
                  <a:cs typeface="Playfair Display"/>
                  <a:sym typeface="Playfair Display"/>
                </a:rPr>
                <a:t>Twilio – Sends SMS alerts and notifications for appointments and emergencies.</a:t>
              </a:r>
            </a:p>
            <a:p>
              <a:pPr algn="l" marL="439620" indent="-219810" lvl="1">
                <a:lnSpc>
                  <a:spcPts val="2850"/>
                </a:lnSpc>
                <a:buFont typeface="Arial"/>
                <a:buChar char="•"/>
              </a:pPr>
              <a:r>
                <a:rPr lang="en-US" sz="2036">
                  <a:solidFill>
                    <a:srgbClr val="2B2C30"/>
                  </a:solidFill>
                  <a:latin typeface="Playfair Display"/>
                  <a:ea typeface="Playfair Display"/>
                  <a:cs typeface="Playfair Display"/>
                  <a:sym typeface="Playfair Display"/>
                </a:rPr>
                <a:t>JWT – User Authentication</a:t>
              </a:r>
            </a:p>
          </p:txBody>
        </p:sp>
      </p:grpSp>
      <p:sp>
        <p:nvSpPr>
          <p:cNvPr name="TextBox 39" id="39"/>
          <p:cNvSpPr txBox="true"/>
          <p:nvPr/>
        </p:nvSpPr>
        <p:spPr>
          <a:xfrm rot="0">
            <a:off x="6059375" y="8195184"/>
            <a:ext cx="5052503" cy="14246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39620" indent="-219810" lvl="1">
              <a:lnSpc>
                <a:spcPts val="2850"/>
              </a:lnSpc>
              <a:buFont typeface="Arial"/>
              <a:buChar char="•"/>
            </a:pPr>
            <a:r>
              <a:rPr lang="en-US" sz="2036">
                <a:solidFill>
                  <a:srgbClr val="2B2C3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 </a:t>
            </a:r>
            <a:r>
              <a:rPr lang="en-US" sz="2036">
                <a:solidFill>
                  <a:srgbClr val="2B2C3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WebRTC – Video Consultation</a:t>
            </a:r>
            <a:r>
              <a:rPr lang="en-US" sz="2036">
                <a:solidFill>
                  <a:srgbClr val="2B2C3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.</a:t>
            </a:r>
          </a:p>
          <a:p>
            <a:pPr algn="l" marL="439620" indent="-219810" lvl="1">
              <a:lnSpc>
                <a:spcPts val="2850"/>
              </a:lnSpc>
              <a:buFont typeface="Arial"/>
              <a:buChar char="•"/>
            </a:pPr>
            <a:r>
              <a:rPr lang="en-US" sz="2036">
                <a:solidFill>
                  <a:srgbClr val="2B2C3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AWS S3 – Medical Report Storage</a:t>
            </a:r>
          </a:p>
          <a:p>
            <a:pPr algn="l" marL="439620" indent="-219810" lvl="1">
              <a:lnSpc>
                <a:spcPts val="2850"/>
              </a:lnSpc>
              <a:buFont typeface="Arial"/>
              <a:buChar char="•"/>
            </a:pPr>
            <a:r>
              <a:rPr lang="en-US" sz="2036">
                <a:solidFill>
                  <a:srgbClr val="2B2C3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GitHub – Hosts the project repository and supports collaboration and backup.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E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1028683" y="4534019"/>
            <a:ext cx="16230639" cy="0"/>
          </a:xfrm>
          <a:prstGeom prst="line">
            <a:avLst/>
          </a:prstGeom>
          <a:ln cap="flat" w="9525">
            <a:solidFill>
              <a:srgbClr val="2B2C3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3" id="3"/>
          <p:cNvSpPr txBox="true"/>
          <p:nvPr/>
        </p:nvSpPr>
        <p:spPr>
          <a:xfrm rot="0">
            <a:off x="850974" y="2332416"/>
            <a:ext cx="16408332" cy="20840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250"/>
              </a:lnSpc>
            </a:pPr>
            <a:r>
              <a:rPr lang="en-US" sz="16758" spc="83">
                <a:solidFill>
                  <a:srgbClr val="2B2C3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Thank you!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16215328" y="8604054"/>
            <a:ext cx="915685" cy="680937"/>
          </a:xfrm>
          <a:custGeom>
            <a:avLst/>
            <a:gdLst/>
            <a:ahLst/>
            <a:cxnLst/>
            <a:rect r="r" b="b" t="t" l="l"/>
            <a:pathLst>
              <a:path h="680937" w="915685">
                <a:moveTo>
                  <a:pt x="0" y="0"/>
                </a:moveTo>
                <a:lnTo>
                  <a:pt x="915685" y="0"/>
                </a:lnTo>
                <a:lnTo>
                  <a:pt x="915685" y="680937"/>
                </a:lnTo>
                <a:lnTo>
                  <a:pt x="0" y="68093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3527801" y="8630746"/>
            <a:ext cx="3145370" cy="7132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17"/>
              </a:lnSpc>
            </a:pPr>
            <a:r>
              <a:rPr lang="en-US" sz="2986" spc="14">
                <a:solidFill>
                  <a:srgbClr val="2B2C3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Your Personal</a:t>
            </a:r>
          </a:p>
          <a:p>
            <a:pPr algn="l">
              <a:lnSpc>
                <a:spcPts val="2717"/>
              </a:lnSpc>
            </a:pPr>
            <a:r>
              <a:rPr lang="en-US" sz="2986" spc="14">
                <a:solidFill>
                  <a:srgbClr val="2B2C3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AI Care Taker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DAG8t8Ka1vM</dc:identifier>
  <dcterms:modified xsi:type="dcterms:W3CDTF">2011-08-01T06:04:30Z</dcterms:modified>
  <cp:revision>1</cp:revision>
  <dc:title>BAYMAX</dc:title>
</cp:coreProperties>
</file>