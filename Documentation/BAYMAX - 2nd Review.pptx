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Playfair Display 1" panose="020B0604020202020204" charset="0"/>
      <p:regular r:id="rId8"/>
    </p:embeddedFont>
    <p:embeddedFont>
      <p:font typeface="Playfair Display 1 Bold" panose="020B0604020202020204" charset="0"/>
      <p:regular r:id="rId9"/>
    </p:embeddedFont>
    <p:embeddedFont>
      <p:font typeface="Playfair Display 2" panose="020B0604020202020204" charset="0"/>
      <p:regular r:id="rId10"/>
    </p:embeddedFont>
    <p:embeddedFont>
      <p:font typeface="Public Sans Bold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53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028706" y="4514765"/>
            <a:ext cx="16230594" cy="38509"/>
          </a:xfrm>
          <a:prstGeom prst="line">
            <a:avLst/>
          </a:prstGeom>
          <a:ln w="9525" cap="flat">
            <a:solidFill>
              <a:srgbClr val="2B2C3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TextBox 3"/>
          <p:cNvSpPr txBox="1"/>
          <p:nvPr/>
        </p:nvSpPr>
        <p:spPr>
          <a:xfrm>
            <a:off x="1006882" y="4747842"/>
            <a:ext cx="16230600" cy="1944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en-US" sz="3714" spc="18" dirty="0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ARCHITECTURE DIAGRAM</a:t>
            </a:r>
          </a:p>
          <a:p>
            <a:pPr algn="l">
              <a:lnSpc>
                <a:spcPts val="5200"/>
              </a:lnSpc>
            </a:pPr>
            <a:r>
              <a:rPr lang="en-US" sz="3714" spc="18" dirty="0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MODULES DESCRIPTION</a:t>
            </a:r>
          </a:p>
          <a:p>
            <a:pPr algn="l">
              <a:lnSpc>
                <a:spcPts val="5200"/>
              </a:lnSpc>
              <a:spcBef>
                <a:spcPct val="0"/>
              </a:spcBef>
            </a:pPr>
            <a:r>
              <a:rPr lang="en-US" sz="3714" spc="18" dirty="0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FEASIBILITY STUDY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50974" y="2332416"/>
            <a:ext cx="16408332" cy="2084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250"/>
              </a:lnSpc>
            </a:pPr>
            <a:r>
              <a:rPr lang="en-US" sz="16758" b="1" spc="3804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BAYMAX</a:t>
            </a:r>
          </a:p>
        </p:txBody>
      </p:sp>
      <p:sp>
        <p:nvSpPr>
          <p:cNvPr id="5" name="Freeform 5"/>
          <p:cNvSpPr/>
          <p:nvPr/>
        </p:nvSpPr>
        <p:spPr>
          <a:xfrm>
            <a:off x="16215328" y="8604054"/>
            <a:ext cx="915685" cy="680937"/>
          </a:xfrm>
          <a:custGeom>
            <a:avLst/>
            <a:gdLst/>
            <a:ahLst/>
            <a:cxnLst/>
            <a:rect l="l" t="t" r="r" b="b"/>
            <a:pathLst>
              <a:path w="915685" h="680937">
                <a:moveTo>
                  <a:pt x="0" y="0"/>
                </a:moveTo>
                <a:lnTo>
                  <a:pt x="915685" y="0"/>
                </a:lnTo>
                <a:lnTo>
                  <a:pt x="915685" y="680937"/>
                </a:lnTo>
                <a:lnTo>
                  <a:pt x="0" y="6809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3527801" y="8630746"/>
            <a:ext cx="3145370" cy="710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7"/>
              </a:lnSpc>
            </a:pPr>
            <a:r>
              <a:rPr lang="en-US" sz="2986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Your Personal</a:t>
            </a:r>
          </a:p>
          <a:p>
            <a:pPr algn="l">
              <a:lnSpc>
                <a:spcPts val="2717"/>
              </a:lnSpc>
            </a:pPr>
            <a:r>
              <a:rPr lang="en-US" sz="2986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AI Care Taker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028695" y="1760761"/>
            <a:ext cx="16230594" cy="38509"/>
          </a:xfrm>
          <a:prstGeom prst="line">
            <a:avLst/>
          </a:prstGeom>
          <a:ln w="9525" cap="flat">
            <a:solidFill>
              <a:srgbClr val="2B2C3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Freeform 3"/>
          <p:cNvSpPr/>
          <p:nvPr/>
        </p:nvSpPr>
        <p:spPr>
          <a:xfrm>
            <a:off x="1446817" y="2068584"/>
            <a:ext cx="11554959" cy="7698491"/>
          </a:xfrm>
          <a:custGeom>
            <a:avLst/>
            <a:gdLst/>
            <a:ahLst/>
            <a:cxnLst/>
            <a:rect l="l" t="t" r="r" b="b"/>
            <a:pathLst>
              <a:path w="11554959" h="7698491">
                <a:moveTo>
                  <a:pt x="0" y="0"/>
                </a:moveTo>
                <a:lnTo>
                  <a:pt x="11554959" y="0"/>
                </a:lnTo>
                <a:lnTo>
                  <a:pt x="11554959" y="7698491"/>
                </a:lnTo>
                <a:lnTo>
                  <a:pt x="0" y="76984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06871" y="962025"/>
            <a:ext cx="16230600" cy="629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00"/>
              </a:lnSpc>
              <a:spcBef>
                <a:spcPct val="0"/>
              </a:spcBef>
            </a:pPr>
            <a:r>
              <a:rPr lang="en-US" sz="3714" b="1" spc="843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ARCHITECTURE DIAGRAM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06871" y="942975"/>
            <a:ext cx="16230600" cy="651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00"/>
              </a:lnSpc>
              <a:spcBef>
                <a:spcPct val="0"/>
              </a:spcBef>
            </a:pPr>
            <a:r>
              <a:rPr lang="en-US" sz="3714" b="1" spc="843">
                <a:solidFill>
                  <a:srgbClr val="2B2C3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MODULES DESCRIPTION</a:t>
            </a:r>
          </a:p>
        </p:txBody>
      </p:sp>
      <p:sp>
        <p:nvSpPr>
          <p:cNvPr id="3" name="AutoShape 3"/>
          <p:cNvSpPr/>
          <p:nvPr/>
        </p:nvSpPr>
        <p:spPr>
          <a:xfrm flipV="1">
            <a:off x="1028695" y="1760761"/>
            <a:ext cx="16230594" cy="38509"/>
          </a:xfrm>
          <a:prstGeom prst="line">
            <a:avLst/>
          </a:prstGeom>
          <a:ln w="9525" cap="flat">
            <a:solidFill>
              <a:srgbClr val="2B2C3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1028700" y="2100044"/>
            <a:ext cx="16208771" cy="7861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1. User Authentication &amp; Profile Management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Secure user registration and login with personal health profile management.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2. Illness Input &amp; AI Symptom Analysis</a:t>
            </a:r>
          </a:p>
          <a:p>
            <a:pPr marL="539749" lvl="1" indent="-269875" algn="l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Users enter symptoms; AI analyzes inputs and provides preliminary health insights.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3. Doctor Consultation Management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Appointment booking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4. Online Consultation</a:t>
            </a:r>
          </a:p>
          <a:p>
            <a:pPr marL="539749" lvl="1" indent="-269875" algn="l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Real-time video and chat consultation with doctors using WebRTC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5. Pharmacy &amp; Medicine Services</a:t>
            </a:r>
          </a:p>
          <a:p>
            <a:pPr marL="539749" lvl="1" indent="-269875" algn="l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Displays nearby pharmacies with medicine availability and pricing.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6. Medicine Information &amp; Reminder</a:t>
            </a:r>
          </a:p>
          <a:p>
            <a:pPr marL="539749" lvl="1" indent="-269875" algn="l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Provides medicine usage details and prescription-based reminders.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50529" y="2126102"/>
            <a:ext cx="16208771" cy="6546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7. Diagnostic &amp; Lab Test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Enables lab test booking and digital access to medical reports.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8. Insurance Policy Assistance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Helps users view and compare suitable health insurance policies.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9. AI Health Assistant &amp; Personal Trainer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AI chatbot offers basic health guidance, fitness, and diet suggestions.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10. Blood Donation &amp; Emergency Support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Connects blood donors with emergencies and provides SOS services.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11. Health Dashboard &amp; Monitoring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Centralized dashboard for appointments, reminders, and health activities.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06871" y="942975"/>
            <a:ext cx="16230600" cy="651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00"/>
              </a:lnSpc>
              <a:spcBef>
                <a:spcPct val="0"/>
              </a:spcBef>
            </a:pPr>
            <a:r>
              <a:rPr lang="en-US" sz="3714" b="1" spc="843">
                <a:solidFill>
                  <a:srgbClr val="2B2C3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MODULES DESCRIPTION</a:t>
            </a:r>
          </a:p>
        </p:txBody>
      </p:sp>
      <p:sp>
        <p:nvSpPr>
          <p:cNvPr id="4" name="AutoShape 4"/>
          <p:cNvSpPr/>
          <p:nvPr/>
        </p:nvSpPr>
        <p:spPr>
          <a:xfrm flipV="1">
            <a:off x="1028695" y="1760761"/>
            <a:ext cx="16230594" cy="38509"/>
          </a:xfrm>
          <a:prstGeom prst="line">
            <a:avLst/>
          </a:prstGeom>
          <a:ln w="9525" cap="flat">
            <a:solidFill>
              <a:srgbClr val="2B2C3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06871" y="942975"/>
            <a:ext cx="16230600" cy="651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00"/>
              </a:lnSpc>
              <a:spcBef>
                <a:spcPct val="0"/>
              </a:spcBef>
            </a:pPr>
            <a:r>
              <a:rPr lang="en-US" sz="3714" b="1" spc="843">
                <a:solidFill>
                  <a:srgbClr val="2B2C3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FEASIBILITY STUDY</a:t>
            </a:r>
          </a:p>
        </p:txBody>
      </p:sp>
      <p:sp>
        <p:nvSpPr>
          <p:cNvPr id="3" name="AutoShape 3"/>
          <p:cNvSpPr/>
          <p:nvPr/>
        </p:nvSpPr>
        <p:spPr>
          <a:xfrm flipV="1">
            <a:off x="1028695" y="1760761"/>
            <a:ext cx="16230594" cy="38509"/>
          </a:xfrm>
          <a:prstGeom prst="line">
            <a:avLst/>
          </a:prstGeom>
          <a:ln w="9525" cap="flat">
            <a:solidFill>
              <a:srgbClr val="2B2C3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1028700" y="1761170"/>
            <a:ext cx="16230600" cy="829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1. TECHNICAL FEASIBILITY: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• Uses React.js, Node.js, AI APIs, and WebRTC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 • Runs efficiently on standard computer systems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2. OPERATIONAL FEASIBILITY: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• Easy-to-use and user-friendly interface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 • Reduces manual effort and waiting time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3. ECONOMIC FEASIBILITY: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• Uses open-source tools and free resources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 • Low development and maintenance cost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4. SCHEDULE FEASIBILITY: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• Modular design enables phased development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 • Can be completed within academic timeline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2B2C30"/>
              </a:solidFill>
              <a:latin typeface="Playfair Display 1"/>
              <a:ea typeface="Playfair Display 1"/>
              <a:cs typeface="Playfair Display 1"/>
              <a:sym typeface="Playfair Display 1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2B2C30"/>
                </a:solidFill>
                <a:latin typeface="Playfair Display 1 Bold"/>
                <a:ea typeface="Playfair Display 1 Bold"/>
                <a:cs typeface="Playfair Display 1 Bold"/>
                <a:sym typeface="Playfair Display 1 Bold"/>
              </a:rPr>
              <a:t>5. LEGAL &amp; ETHICAL FEASIBILITY: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• Ensures secure handling of user health data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2B2C30"/>
                </a:solidFill>
                <a:latin typeface="Playfair Display 1"/>
                <a:ea typeface="Playfair Display 1"/>
                <a:cs typeface="Playfair Display 1"/>
                <a:sym typeface="Playfair Display 1"/>
              </a:rPr>
              <a:t> • AI acts only as a decision-support system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501472" y="4334821"/>
            <a:ext cx="11285056" cy="2084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250"/>
              </a:lnSpc>
            </a:pPr>
            <a:r>
              <a:rPr lang="en-US" sz="16758" spc="83">
                <a:solidFill>
                  <a:srgbClr val="2B2C30"/>
                </a:solidFill>
                <a:latin typeface="Playfair Display 2"/>
                <a:ea typeface="Playfair Display 2"/>
                <a:cs typeface="Playfair Display 2"/>
                <a:sym typeface="Playfair Display 2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306</Words>
  <Application>Microsoft Office PowerPoint</Application>
  <PresentationFormat>Custom</PresentationFormat>
  <Paragraphs>61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Playfair Display 1 Bold</vt:lpstr>
      <vt:lpstr>Calibri</vt:lpstr>
      <vt:lpstr>Arial</vt:lpstr>
      <vt:lpstr>Playfair Display 2</vt:lpstr>
      <vt:lpstr>Playfair Display 1</vt:lpstr>
      <vt:lpstr>Public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BAYMAX - 2nd Review</dc:title>
  <cp:lastModifiedBy>vigneshwarand23@outlook.com</cp:lastModifiedBy>
  <cp:revision>2</cp:revision>
  <dcterms:created xsi:type="dcterms:W3CDTF">2006-08-16T00:00:00Z</dcterms:created>
  <dcterms:modified xsi:type="dcterms:W3CDTF">2026-01-11T16:06:28Z</dcterms:modified>
  <dc:identifier>DAG-Gv-ging</dc:identifier>
</cp:coreProperties>
</file>