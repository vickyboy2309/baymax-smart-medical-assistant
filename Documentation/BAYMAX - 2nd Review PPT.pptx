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layfair Display 1" charset="1" panose="00000000000000000000"/>
      <p:regular r:id="rId13"/>
    </p:embeddedFont>
    <p:embeddedFont>
      <p:font typeface="Playfair Display 1 Bold" charset="1" panose="00000000000000000000"/>
      <p:regular r:id="rId14"/>
    </p:embeddedFont>
    <p:embeddedFont>
      <p:font typeface="Public Sans Bold" charset="1" panose="00000000000000000000"/>
      <p:regular r:id="rId15"/>
    </p:embeddedFont>
    <p:embeddedFont>
      <p:font typeface="Playfair Display 2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47842"/>
            <a:ext cx="16230600" cy="194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WORKFLOW ARCHITECTURE DIAGRAM</a:t>
            </a:r>
          </a:p>
          <a:p>
            <a:pPr algn="l">
              <a:lnSpc>
                <a:spcPts val="5200"/>
              </a:lnSpc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MODULES DESCRIPTION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FEASIBILITY STUDY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b="true" sz="16758" spc="380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BAYMAX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27801" y="8630746"/>
            <a:ext cx="3145370" cy="7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AI Care Taker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3229228"/>
            <a:ext cx="1778749" cy="1642917"/>
          </a:xfrm>
          <a:custGeom>
            <a:avLst/>
            <a:gdLst/>
            <a:ahLst/>
            <a:cxnLst/>
            <a:rect r="r" b="b" t="t" l="l"/>
            <a:pathLst>
              <a:path h="1642917" w="1778749">
                <a:moveTo>
                  <a:pt x="0" y="0"/>
                </a:moveTo>
                <a:lnTo>
                  <a:pt x="1778749" y="0"/>
                </a:lnTo>
                <a:lnTo>
                  <a:pt x="1778749" y="1642917"/>
                </a:lnTo>
                <a:lnTo>
                  <a:pt x="0" y="1642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85620" y="2813900"/>
            <a:ext cx="1646595" cy="2058244"/>
          </a:xfrm>
          <a:custGeom>
            <a:avLst/>
            <a:gdLst/>
            <a:ahLst/>
            <a:cxnLst/>
            <a:rect r="r" b="b" t="t" l="l"/>
            <a:pathLst>
              <a:path h="2058244" w="1646595">
                <a:moveTo>
                  <a:pt x="0" y="0"/>
                </a:moveTo>
                <a:lnTo>
                  <a:pt x="1646596" y="0"/>
                </a:lnTo>
                <a:lnTo>
                  <a:pt x="1646596" y="2058245"/>
                </a:lnTo>
                <a:lnTo>
                  <a:pt x="0" y="20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49419" y="2999393"/>
            <a:ext cx="1872752" cy="1872752"/>
          </a:xfrm>
          <a:custGeom>
            <a:avLst/>
            <a:gdLst/>
            <a:ahLst/>
            <a:cxnLst/>
            <a:rect r="r" b="b" t="t" l="l"/>
            <a:pathLst>
              <a:path h="1872752" w="1872752">
                <a:moveTo>
                  <a:pt x="0" y="0"/>
                </a:moveTo>
                <a:lnTo>
                  <a:pt x="1872752" y="0"/>
                </a:lnTo>
                <a:lnTo>
                  <a:pt x="1872752" y="1872752"/>
                </a:lnTo>
                <a:lnTo>
                  <a:pt x="0" y="187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3976" y="2850697"/>
            <a:ext cx="1999900" cy="2021448"/>
          </a:xfrm>
          <a:custGeom>
            <a:avLst/>
            <a:gdLst/>
            <a:ahLst/>
            <a:cxnLst/>
            <a:rect r="r" b="b" t="t" l="l"/>
            <a:pathLst>
              <a:path h="2021448" w="1999900">
                <a:moveTo>
                  <a:pt x="0" y="0"/>
                </a:moveTo>
                <a:lnTo>
                  <a:pt x="1999900" y="0"/>
                </a:lnTo>
                <a:lnTo>
                  <a:pt x="1999900" y="2021448"/>
                </a:lnTo>
                <a:lnTo>
                  <a:pt x="0" y="20214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7045" y="7174265"/>
            <a:ext cx="1478826" cy="1400852"/>
          </a:xfrm>
          <a:custGeom>
            <a:avLst/>
            <a:gdLst/>
            <a:ahLst/>
            <a:cxnLst/>
            <a:rect r="r" b="b" t="t" l="l"/>
            <a:pathLst>
              <a:path h="1400852" w="1478826">
                <a:moveTo>
                  <a:pt x="0" y="0"/>
                </a:moveTo>
                <a:lnTo>
                  <a:pt x="1478826" y="0"/>
                </a:lnTo>
                <a:lnTo>
                  <a:pt x="1478826" y="1400851"/>
                </a:lnTo>
                <a:lnTo>
                  <a:pt x="0" y="1400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903279" y="4060211"/>
            <a:ext cx="1951806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9803545" y="3935769"/>
            <a:ext cx="276202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336842">
            <a:off x="12254548" y="7842971"/>
            <a:ext cx="1484932" cy="1498374"/>
          </a:xfrm>
          <a:custGeom>
            <a:avLst/>
            <a:gdLst/>
            <a:ahLst/>
            <a:cxnLst/>
            <a:rect r="r" b="b" t="t" l="l"/>
            <a:pathLst>
              <a:path h="1498374" w="1484932">
                <a:moveTo>
                  <a:pt x="0" y="0"/>
                </a:moveTo>
                <a:lnTo>
                  <a:pt x="1484932" y="0"/>
                </a:lnTo>
                <a:lnTo>
                  <a:pt x="1484932" y="1498373"/>
                </a:lnTo>
                <a:lnTo>
                  <a:pt x="0" y="14983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ARCHITECTURE D</a:t>
            </a: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5574" y="4824520"/>
            <a:ext cx="3488499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PATIENT/DOCTOR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2214" y="4910245"/>
            <a:ext cx="218848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INTERNET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17871" y="1992580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CLIENT SIDE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90166" y="5035155"/>
            <a:ext cx="3846473" cy="141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b="true" sz="2714" spc="1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USER INTERFACE &amp; DASHBOARD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714" spc="13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(WEB APPLICATION)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6611" y="7058471"/>
            <a:ext cx="2245010" cy="151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2914" spc="14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REQUEST TO 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37910" y="7726306"/>
            <a:ext cx="521846" cy="3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8185795" y="5650265"/>
            <a:ext cx="0" cy="117933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2184819" y="9448484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SERVER SIDE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3593" y="2857340"/>
            <a:ext cx="1478826" cy="1400852"/>
          </a:xfrm>
          <a:custGeom>
            <a:avLst/>
            <a:gdLst/>
            <a:ahLst/>
            <a:cxnLst/>
            <a:rect r="r" b="b" t="t" l="l"/>
            <a:pathLst>
              <a:path h="1400852" w="1478826">
                <a:moveTo>
                  <a:pt x="0" y="0"/>
                </a:moveTo>
                <a:lnTo>
                  <a:pt x="1478827" y="0"/>
                </a:lnTo>
                <a:lnTo>
                  <a:pt x="1478827" y="1400852"/>
                </a:lnTo>
                <a:lnTo>
                  <a:pt x="0" y="1400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3443" y="2857340"/>
            <a:ext cx="2423081" cy="1938465"/>
          </a:xfrm>
          <a:custGeom>
            <a:avLst/>
            <a:gdLst/>
            <a:ahLst/>
            <a:cxnLst/>
            <a:rect r="r" b="b" t="t" l="l"/>
            <a:pathLst>
              <a:path h="1938465" w="2423081">
                <a:moveTo>
                  <a:pt x="0" y="0"/>
                </a:moveTo>
                <a:lnTo>
                  <a:pt x="2423081" y="0"/>
                </a:lnTo>
                <a:lnTo>
                  <a:pt x="2423081" y="1938465"/>
                </a:lnTo>
                <a:lnTo>
                  <a:pt x="0" y="193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97267" y="2480525"/>
            <a:ext cx="2081604" cy="2081604"/>
          </a:xfrm>
          <a:custGeom>
            <a:avLst/>
            <a:gdLst/>
            <a:ahLst/>
            <a:cxnLst/>
            <a:rect r="r" b="b" t="t" l="l"/>
            <a:pathLst>
              <a:path h="2081604" w="2081604">
                <a:moveTo>
                  <a:pt x="0" y="0"/>
                </a:moveTo>
                <a:lnTo>
                  <a:pt x="2081605" y="0"/>
                </a:lnTo>
                <a:lnTo>
                  <a:pt x="2081605" y="2081605"/>
                </a:lnTo>
                <a:lnTo>
                  <a:pt x="0" y="2081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89032" y="6507475"/>
            <a:ext cx="1987014" cy="2200698"/>
          </a:xfrm>
          <a:custGeom>
            <a:avLst/>
            <a:gdLst/>
            <a:ahLst/>
            <a:cxnLst/>
            <a:rect r="r" b="b" t="t" l="l"/>
            <a:pathLst>
              <a:path h="2200698" w="1987014">
                <a:moveTo>
                  <a:pt x="0" y="0"/>
                </a:moveTo>
                <a:lnTo>
                  <a:pt x="1987014" y="0"/>
                </a:lnTo>
                <a:lnTo>
                  <a:pt x="1987014" y="2200698"/>
                </a:lnTo>
                <a:lnTo>
                  <a:pt x="0" y="2200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3714" y="6507475"/>
            <a:ext cx="2526595" cy="2090905"/>
          </a:xfrm>
          <a:custGeom>
            <a:avLst/>
            <a:gdLst/>
            <a:ahLst/>
            <a:cxnLst/>
            <a:rect r="r" b="b" t="t" l="l"/>
            <a:pathLst>
              <a:path h="2090905" w="2526595">
                <a:moveTo>
                  <a:pt x="0" y="0"/>
                </a:moveTo>
                <a:lnTo>
                  <a:pt x="2526595" y="0"/>
                </a:lnTo>
                <a:lnTo>
                  <a:pt x="2526595" y="2090905"/>
                </a:lnTo>
                <a:lnTo>
                  <a:pt x="0" y="2090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ARCHITECTURE D</a:t>
            </a: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7871" y="1992580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SERVER SIDE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5114" y="3129961"/>
            <a:ext cx="1497430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GATEWAY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3034" y="3386316"/>
            <a:ext cx="521846" cy="3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1415" y="4910105"/>
            <a:ext cx="2100334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APPLICATION SERVER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5877" y="4748180"/>
            <a:ext cx="1384386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AI &amp; NLP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42721" y="8830495"/>
            <a:ext cx="2155530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DATABASE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COLLECTION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6845" y="8830495"/>
            <a:ext cx="2100334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RESPONE TO 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CLIENT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873991" y="3765677"/>
            <a:ext cx="1951806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>
            <a:off x="10074013" y="3765677"/>
            <a:ext cx="240362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13545877" y="5989502"/>
            <a:ext cx="692193" cy="161832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>
            <a:off x="6825796" y="7607824"/>
            <a:ext cx="354433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0074013" y="3826573"/>
            <a:ext cx="2008527" cy="216293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DESCRIPTION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00044"/>
            <a:ext cx="16208771" cy="742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1. User &amp; Health Data Management Module :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manages secure authentication, profiles, and dashboards for both patients and doctors. It handles role-based access and securely stores user and medical data across the system.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2. AI-Driven Health Analysis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handles all AI and ML functionalities of BAYMAX, including symptom analysis and intelligent health insights. It provides AI-based guidance and chatbot support to assist users in decision-making.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3. Doctor Consultation &amp; Care Services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manages the complete doctor consultation workflow, including specialist recommendation, appointment booking, navigation support, and online consultations.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0529" y="2126102"/>
            <a:ext cx="16208771" cy="479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4. Medical Services &amp; Support Modu</a:t>
            </a: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l</a:t>
            </a: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provides access to pharm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acy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 services, medicine information, lab tests, and insurance assistance, supporting users with essential medical services.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5. Emergency &amp; Social Healthcare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handles emergency SOS services and blood donation support, enabling quick response and community-based healthcare assistance.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DESCRIPTION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FEASIBILITY STUDY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61170"/>
            <a:ext cx="16230600" cy="873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Technical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 is built using modern technologies like React.js, Node.js, AI APIs, and WebRTC. These technologies are reliable, scalable, and run efficiently on standard computer systems.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Operational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system provides a simple and user-friendly interface for patients and doctors. It reduces manual effort and waiting time through automated healthcare services.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Economic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 uses open-source frameworks and free development tools. This keeps development and maintenance costs minimal.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Schedule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modular architecture enables phased development and easy integration of features. This ensures completion within the academic timeline.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Legal &amp; Ethical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system ensures secure handling of user health data. AI is used only as a decision-support tool, maintaining ethical medical practices.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72" y="4334821"/>
            <a:ext cx="11285056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DAG-Gv-ging</dc:identifier>
  <dcterms:modified xsi:type="dcterms:W3CDTF">2011-08-01T06:04:30Z</dcterms:modified>
  <cp:revision>1</cp:revision>
  <dc:title>BAYMAX - 2nd Review</dc:title>
</cp:coreProperties>
</file>